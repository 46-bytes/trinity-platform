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Business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guyguygyu (Marsh Advertising)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32-person workforce with confirmed proprietary IP and operational infrastructure</a:t>
            </a:r>
          </a:p>
          <a:p>
            <a:pPr/>
            <a:r>
              <a:t>12-year established TV media and social media advertising agency</a:t>
            </a:r>
          </a:p>
          <a:p>
            <a:pPr/>
            <a:r>
              <a:t>Annual revenue $5M-$10M with documented methods and trade secrets</a:t>
            </a:r>
          </a:p>
          <a:p>
            <a:pPr/>
            <a:r>
              <a:t>Critical challenge: gap between operational capability and financial performance</a:t>
            </a:r>
          </a:p>
          <a:p>
            <a:pPr/>
            <a:r>
              <a:t>At inflection point requiring strategic intervention for sustainable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Vision: Leading premium advertising agency across Georgia, Melbourne, and Sydney</a:t>
            </a:r>
          </a:p>
          <a:p>
            <a:pPr/>
            <a:r>
              <a:t>Mission: Deliver TV media and social media advertising using proprietary methods</a:t>
            </a:r>
          </a:p>
          <a:p>
            <a:pPr/>
            <a:r>
              <a:t>Focus on measurably superior client outcomes that generic agencies cannot match</a:t>
            </a:r>
          </a:p>
          <a:p>
            <a:pPr/>
            <a:r>
              <a:t>Dedicated service model creating measurable commercial advantage</a:t>
            </a:r>
          </a:p>
          <a:p>
            <a:pPr/>
            <a:r>
              <a:t>Premium positioning based on proprietary intellectual property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LLC structure with 2 shareholders and 4 directors</a:t>
            </a:r>
          </a:p>
          <a:p>
            <a:pPr/>
            <a:r>
              <a:t>Multi-site operations: Georgia, Melbourne, and Sydney (owned premises)</a:t>
            </a:r>
          </a:p>
          <a:p>
            <a:pPr/>
            <a:r>
              <a:t>32 employees: 24 FTE, 4 part-time, 2 casual, 2 contractors</a:t>
            </a:r>
          </a:p>
          <a:p>
            <a:pPr/>
            <a:r>
              <a:t>Protected proprietary methods with NDAs and non-compete agreements</a:t>
            </a:r>
          </a:p>
          <a:p>
            <a:pPr/>
            <a:r>
              <a:t>Active CRM system with documented service delivery procedures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competitive rivalry with three-player parity pricing</a:t>
            </a:r>
          </a:p>
          <a:p>
            <a:pPr/>
            <a:r>
              <a:t>Medium buyer power - clients can switch between comparable competitors</a:t>
            </a:r>
          </a:p>
          <a:p>
            <a:pPr/>
            <a:r>
              <a:t>Low supplier power - multiple media platform options available</a:t>
            </a:r>
          </a:p>
          <a:p>
            <a:pPr/>
            <a:r>
              <a:t>Differentiation exists but not currently monetized effectively</a:t>
            </a:r>
          </a:p>
          <a:p>
            <a:pPr/>
            <a:r>
              <a:t>Proprietary methods serve as primary client retention lever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Financial stabilization through margin expansion</a:t>
            </a:r>
          </a:p>
          <a:p>
            <a:pPr/>
            <a:r>
              <a:t>Phase 2: Deliberate market deepening and client acquisition</a:t>
            </a:r>
          </a:p>
          <a:p>
            <a:pPr/>
            <a:r>
              <a:t>Proprietary methods are currently underpriced in market</a:t>
            </a:r>
          </a:p>
          <a:p>
            <a:pPr/>
            <a:r>
              <a:t>Multi-site footprint is underutilized for growth potential</a:t>
            </a:r>
          </a:p>
          <a:p>
            <a:pPr/>
            <a:r>
              <a:t>Focus on capability optimization before new capability investment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revenue: $5M-$10M range</a:t>
            </a:r>
          </a:p>
          <a:p>
            <a:pPr/>
            <a:r>
              <a:t>Net operating loss: $250,001-$500,000 (last FY)</a:t>
            </a:r>
          </a:p>
          <a:p>
            <a:pPr/>
            <a:r>
              <a:t>Debt maturity exposure: $250,000 requiring immediate attention</a:t>
            </a:r>
          </a:p>
          <a:p>
            <a:pPr/>
            <a:r>
              <a:t>No normalized EBITDA calculation currently in place</a:t>
            </a:r>
          </a:p>
          <a:p>
            <a:pPr/>
            <a:r>
              <a:t>Bi-monthly financial reporting insufficient for strategic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Debt maturity escalation risk: $250,000 exposure (Critical Priority)</a:t>
            </a:r>
          </a:p>
          <a:p>
            <a:pPr/>
            <a:r>
              <a:t>Compliance exposure from insufficient governance infrastructure</a:t>
            </a:r>
          </a:p>
          <a:p>
            <a:pPr/>
            <a:r>
              <a:t>Key person dependency on owner Jack (40% operational reliance)</a:t>
            </a:r>
          </a:p>
          <a:p>
            <a:pPr/>
            <a:r>
              <a:t>Parity pricing suppressing margin across competitive landscape</a:t>
            </a:r>
          </a:p>
          <a:p>
            <a:pPr/>
            <a:r>
              <a:t>Systems effectiveness gaps requiring process reengineering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Actions (Next 30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 lender for debt restructuring/refinancing (Week 1)</a:t>
            </a:r>
          </a:p>
          <a:p>
            <a:pPr/>
            <a:r>
              <a:t>Implement monthly KPI reporting and quarterly strategy reviews</a:t>
            </a:r>
          </a:p>
          <a:p>
            <a:pPr/>
            <a:r>
              <a:t>Begin proprietary method pricing analysis and adjustment</a:t>
            </a:r>
          </a:p>
          <a:p>
            <a:pPr/>
            <a:r>
              <a:t>Establish normalized EBITDA calculation with accountant support</a:t>
            </a:r>
          </a:p>
          <a:p>
            <a:pPr/>
            <a:r>
              <a:t>Initiate compliance audit and governance infrastructure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Alignment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stabilization before growth (Very Strong signal across all sections)</a:t>
            </a:r>
          </a:p>
          <a:p>
            <a:pPr/>
            <a:r>
              <a:t>Proprietary IP as primary commercial lever (Strong correlation)</a:t>
            </a:r>
          </a:p>
          <a:p>
            <a:pPr/>
            <a:r>
              <a:t>Governance infrastructure as operational foundation</a:t>
            </a:r>
          </a:p>
          <a:p>
            <a:pPr/>
            <a:r>
              <a:t>Premium positioning through differentiated service delivery</a:t>
            </a:r>
          </a:p>
          <a:p>
            <a:pPr/>
            <a:r>
              <a:t>Multi-site coordination for scalable growth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